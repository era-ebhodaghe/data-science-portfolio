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62"/>
  </p:normalViewPr>
  <p:slideViewPr>
    <p:cSldViewPr snapToGrid="0" snapToObjects="1">
      <p:cViewPr varScale="1">
        <p:scale>
          <a:sx n="153" d="100"/>
          <a:sy n="153" d="100"/>
        </p:scale>
        <p:origin x="10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99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08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01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55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6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4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0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12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37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6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69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9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Diamond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DSC 680 - Project #2</a:t>
            </a:r>
          </a:p>
          <a:p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Author: Era </a:t>
            </a:r>
            <a:r>
              <a:rPr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Ebhodaghe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Date:</a:t>
            </a:r>
            <a:r>
              <a:rPr lang="en-CA" sz="1400" dirty="0">
                <a:latin typeface="Calibri" panose="020F0502020204030204" pitchFamily="34" charset="0"/>
                <a:cs typeface="Calibri" panose="020F0502020204030204" pitchFamily="34" charset="0"/>
              </a:rPr>
              <a:t> November 1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, 2025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A13BD057-AB77-CF47-855F-C0B38666F8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385"/>
    </mc:Choice>
    <mc:Fallback>
      <p:transition spd="slow" advTm="163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regression models were applied to predict diamond prices using the Diamonds Dataset.</a:t>
            </a:r>
          </a:p>
          <a:p>
            <a:r>
              <a:t>The study analyzed relationships between diamond characteristics (carat, cut, color, clarity) and market prices.</a:t>
            </a:r>
          </a:p>
          <a:p>
            <a:r>
              <a:t>Goal: Develop accurate predictive models to support jewelers and online retailers with data-driven pricing.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12FE493-7B23-3F46-B8CE-AC7E137CE3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716"/>
    </mc:Choice>
    <mc:Fallback>
      <p:transition spd="slow" advTm="247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valuation methods rely on subjective human judgment.</a:t>
            </a:r>
          </a:p>
          <a:p>
            <a:r>
              <a:t>Price inconsistencies arise from varying quality interpretations and market fluctuations.</a:t>
            </a:r>
          </a:p>
          <a:p>
            <a:r>
              <a:t>Machine learning offers standardized, consistent, and data-driven appraisal solutions.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71A5E89-5897-1B4E-A1CF-5BBC11E79D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635"/>
    </mc:Choice>
    <mc:Fallback>
      <p:transition spd="slow" advTm="256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and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Diamond pricing is based on the Four Cs: Carat, Cut, Color, and Clarity.</a:t>
            </a:r>
          </a:p>
          <a:p>
            <a:r>
              <a:t>Manual grading introduces variation and bias.</a:t>
            </a:r>
          </a:p>
          <a:p>
            <a:r>
              <a:t>Predictive modeling helps quantify and standardize the effect of each factor on price.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0F02F8E-A7B1-504B-BA08-031C7CF617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653"/>
    </mc:Choice>
    <mc:Fallback>
      <p:transition spd="slow" advTm="286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53,000+ diamonds from Kaggle.</a:t>
            </a:r>
          </a:p>
          <a:p>
            <a:r>
              <a:t>Features: Carat, Cut, Color, Clarity, x, y, z, Price.</a:t>
            </a:r>
          </a:p>
          <a:p>
            <a:r>
              <a:t>Preprocessing: Duplicates removed, categorical variables encoded, log transformation applied on price.</a:t>
            </a:r>
          </a:p>
          <a:p>
            <a:r>
              <a:t>Feature Engineering: Added 'volume = x × y × z'.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3DDBF96F-DE23-DB46-BB74-13C5160B2F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842"/>
    </mc:Choice>
    <mc:Fallback>
      <p:transition spd="slow" advTm="438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 Linear Regression, Random Forest, Gradient Boosting, XGBoost.</a:t>
            </a:r>
          </a:p>
          <a:p>
            <a:r>
              <a:t>Metrics: MSE, MAE, R², Accuracy (within 10%).</a:t>
            </a:r>
          </a:p>
          <a:p>
            <a:r>
              <a:t>XGBoost tuning via RandomizedSearchCV for best parameters.</a:t>
            </a:r>
          </a:p>
          <a:p>
            <a:r>
              <a:t>Tools: Python, pandas, scikit-learn, seaborn, matplotlib.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D27DCBB-E7D1-114C-8B76-CFD3D72EA2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85"/>
    </mc:Choice>
    <mc:Fallback>
      <p:transition spd="slow" advTm="430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647" y="2107173"/>
            <a:ext cx="6571343" cy="3450613"/>
          </a:xfrm>
        </p:spPr>
        <p:txBody>
          <a:bodyPr>
            <a:normAutofit/>
          </a:bodyPr>
          <a:lstStyle/>
          <a:p>
            <a:r>
              <a:rPr dirty="0"/>
              <a:t>Carat and volume strongly correlated with price.</a:t>
            </a:r>
          </a:p>
          <a:p>
            <a:r>
              <a:rPr dirty="0"/>
              <a:t>Cut, color, and clarity showed moderate effects.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EAA2A-D169-2A46-B541-FF1F9943A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162" y="1966418"/>
            <a:ext cx="2776335" cy="1866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717CF4-281C-0D4C-92D6-1AB0057CA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916" y="4426488"/>
            <a:ext cx="5278581" cy="1384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374FFA-9246-F441-B7C8-6EA78BE7A581}"/>
              </a:ext>
            </a:extLst>
          </p:cNvPr>
          <p:cNvSpPr txBox="1"/>
          <p:nvPr/>
        </p:nvSpPr>
        <p:spPr>
          <a:xfrm>
            <a:off x="7171774" y="3791253"/>
            <a:ext cx="1990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Figure 1: Price vs Carat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7CAE9-A226-0043-9821-A0451ED2F85A}"/>
              </a:ext>
            </a:extLst>
          </p:cNvPr>
          <p:cNvSpPr txBox="1"/>
          <p:nvPr/>
        </p:nvSpPr>
        <p:spPr>
          <a:xfrm>
            <a:off x="6395430" y="5769976"/>
            <a:ext cx="2779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Figure 3: Price by Cut/Color/Clarity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894C2-5EA8-8045-849D-A5B3425E0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32" y="3323641"/>
            <a:ext cx="2997200" cy="2374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0A49A5-A6C9-874D-B734-CA5CC2099684}"/>
              </a:ext>
            </a:extLst>
          </p:cNvPr>
          <p:cNvSpPr txBox="1"/>
          <p:nvPr/>
        </p:nvSpPr>
        <p:spPr>
          <a:xfrm>
            <a:off x="408074" y="5700652"/>
            <a:ext cx="2750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Figure 2: Correlation </a:t>
            </a:r>
            <a:r>
              <a:rPr lang="en-CA" sz="14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Heatmap</a:t>
            </a:r>
            <a:r>
              <a:rPr lang="en-CA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A1CF4FAC-E6E2-AD4F-A5E5-E3D1419BDD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91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14"/>
    </mc:Choice>
    <mc:Fallback>
      <p:transition spd="slow" advTm="326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675145"/>
          </a:xfrm>
        </p:spPr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 err="1"/>
              <a:t>XGBoost</a:t>
            </a:r>
            <a:r>
              <a:rPr sz="1600" dirty="0"/>
              <a:t> achieved best results (R² = 0.985, 82% accuracy within ±10%).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3" title="Fig 4: Predicted vs Actual Prices">
            <a:extLst>
              <a:ext uri="{FF2B5EF4-FFF2-40B4-BE49-F238E27FC236}">
                <a16:creationId xmlns:a16="http://schemas.microsoft.com/office/drawing/2014/main" id="{1148A861-D9FB-7F4F-B25D-44DFA3C06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58" y="2434480"/>
            <a:ext cx="2903476" cy="20128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C3B5E9-741F-7240-B92A-0F910D5454C2}"/>
              </a:ext>
            </a:extLst>
          </p:cNvPr>
          <p:cNvSpPr txBox="1"/>
          <p:nvPr/>
        </p:nvSpPr>
        <p:spPr>
          <a:xfrm>
            <a:off x="6153958" y="4430683"/>
            <a:ext cx="3105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Figure 5: Predicted vs Actual Prices (</a:t>
            </a:r>
            <a:r>
              <a:rPr lang="en-CA" sz="12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CA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EF3E5-65D3-CF41-90F9-6BCA98304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660" y="2434480"/>
            <a:ext cx="3022600" cy="157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22D219-EB33-8D47-A036-85120630CDD7}"/>
              </a:ext>
            </a:extLst>
          </p:cNvPr>
          <p:cNvSpPr txBox="1"/>
          <p:nvPr/>
        </p:nvSpPr>
        <p:spPr>
          <a:xfrm>
            <a:off x="1727290" y="4067694"/>
            <a:ext cx="2488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u="sng" dirty="0">
                <a:latin typeface="Calibri" panose="020F0502020204030204" pitchFamily="34" charset="0"/>
                <a:cs typeface="Calibri" panose="020F0502020204030204" pitchFamily="34" charset="0"/>
              </a:rPr>
              <a:t>Figure 4: Performance of all models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9E1B6816-41E0-F34A-B3CE-0A9672F57D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389"/>
    </mc:Choice>
    <mc:Fallback>
      <p:transition spd="slow" advTm="38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models can accurately predict diamond prices.</a:t>
            </a:r>
          </a:p>
          <a:p>
            <a:r>
              <a:t>XGBoost provided the best balance of accuracy and interpretability.</a:t>
            </a:r>
          </a:p>
          <a:p>
            <a:r>
              <a:t>Applications: Pricing automation, valuation standardization, and transparency improvement.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C8D7D16A-E829-D840-9FB7-1AAACE5407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62"/>
    </mc:Choice>
    <mc:Fallback>
      <p:transition spd="slow" advTm="245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Assumptions: Stable market, representative dataset, meaningful label encoding.</a:t>
            </a:r>
          </a:p>
          <a:p>
            <a:r>
              <a:t>Limitations: Missing features (fluorescence, symmetry), limited price range, no market trend inclusion.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1FA493F-A25D-8D46-96C4-70C66A7731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632"/>
    </mc:Choice>
    <mc:Fallback>
      <p:transition spd="slow" advTm="24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skew and invalid entries required cleaning.</a:t>
            </a:r>
          </a:p>
          <a:p>
            <a:r>
              <a:t>Hyperparameter tuning demanded significant computation.</a:t>
            </a:r>
          </a:p>
          <a:p>
            <a:r>
              <a:t>Balancing interpretability and predictive power remained difficult.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B0A9FAC-96DE-8A45-BC27-245C23C82A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131"/>
    </mc:Choice>
    <mc:Fallback>
      <p:transition spd="slow" advTm="221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Uses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to real-time pricing and online appraisal tools.</a:t>
            </a:r>
          </a:p>
          <a:p>
            <a:r>
              <a:t>Retrain models regularly to reflect market changes.</a:t>
            </a:r>
          </a:p>
          <a:p>
            <a:r>
              <a:t>Include new features for improved accuracy (e.g., fluorescence).</a:t>
            </a:r>
          </a:p>
          <a:p>
            <a:r>
              <a:t>Use SHAP or similar tools for explainable AI in business applications.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5C7D024-71BF-0844-84DF-E5177A6075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542"/>
    </mc:Choice>
    <mc:Fallback>
      <p:transition spd="slow" advTm="305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web-based interface for real-time predictions.</a:t>
            </a:r>
          </a:p>
          <a:p>
            <a:r>
              <a:t>Integrate pipeline with trained XGBoost model and scaler.</a:t>
            </a:r>
          </a:p>
          <a:p>
            <a:r>
              <a:t>Retrain every 6 months to maintain accuracy.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32390D9-A143-4B47-8B5B-48F83B9A36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71"/>
    </mc:Choice>
    <mc:Fallback>
      <p:transition spd="slow" advTm="267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should improve transparency, not manipulate consumers.</a:t>
            </a:r>
          </a:p>
          <a:p>
            <a:r>
              <a:t>Disclose that ML predictions complement, not replace, professional appraisals.</a:t>
            </a:r>
          </a:p>
          <a:p>
            <a:r>
              <a:t>Ensure compliance with data licensing and fairness principles.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8C6EC66-D722-EE43-857B-669F21F3E9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66"/>
    </mc:Choice>
    <mc:Fallback>
      <p:transition spd="slow" advTm="239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Audience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861413" cy="391173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CA" dirty="0"/>
              <a:t>Why was </a:t>
            </a:r>
            <a:r>
              <a:rPr lang="en-CA" dirty="0" err="1"/>
              <a:t>XGBoost</a:t>
            </a:r>
            <a:r>
              <a:rPr lang="en-CA" dirty="0"/>
              <a:t> chosen over Random Forest despite similar R² scores?</a:t>
            </a:r>
          </a:p>
          <a:p>
            <a:pPr lvl="0"/>
            <a:r>
              <a:rPr lang="en-CA" dirty="0"/>
              <a:t>How does log transformation improve prediction accuracy?</a:t>
            </a:r>
          </a:p>
          <a:p>
            <a:pPr lvl="0"/>
            <a:r>
              <a:rPr lang="en-CA" dirty="0"/>
              <a:t>Could the model handle colored or lab-grown diamonds?</a:t>
            </a:r>
          </a:p>
          <a:p>
            <a:pPr lvl="0"/>
            <a:r>
              <a:rPr lang="en-CA" dirty="0"/>
              <a:t>How were categorical features (cut, color, clarity) encoded?</a:t>
            </a:r>
          </a:p>
          <a:p>
            <a:pPr lvl="0"/>
            <a:r>
              <a:rPr lang="en-CA" dirty="0"/>
              <a:t>What does 82% accuracy within 10% tolerance mean in practice?</a:t>
            </a:r>
          </a:p>
          <a:p>
            <a:pPr lvl="0"/>
            <a:r>
              <a:rPr lang="en-CA" dirty="0"/>
              <a:t>How might new features like polish or fluorescence affect results?</a:t>
            </a:r>
          </a:p>
          <a:p>
            <a:pPr lvl="0"/>
            <a:r>
              <a:rPr lang="en-CA" dirty="0"/>
              <a:t>What risks exist when using automated appraisal tools online?</a:t>
            </a:r>
          </a:p>
          <a:p>
            <a:pPr lvl="0"/>
            <a:r>
              <a:rPr lang="en-CA" dirty="0"/>
              <a:t>Could this model be integrated into online diamond marketplaces?</a:t>
            </a:r>
          </a:p>
          <a:p>
            <a:pPr lvl="0"/>
            <a:r>
              <a:rPr lang="en-CA" dirty="0"/>
              <a:t>How can interpretability be improved for non-technical users?</a:t>
            </a:r>
          </a:p>
          <a:p>
            <a:pPr lvl="0"/>
            <a:r>
              <a:rPr lang="en-CA" dirty="0"/>
              <a:t>What ethical safeguards should companies adopt when deploying this model?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14EE5E0-8AC7-9543-B543-84EFCE2DC7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5671"/>
    </mc:Choice>
    <mc:Fallback>
      <p:transition spd="slow" advTm="145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Kaggle (2025). Diamonds Dataset. Retrieved from https://www.kaggle.com/datasets/shivam2503/diamonds</a:t>
            </a:r>
          </a:p>
          <a:p>
            <a:r>
              <a:t>Gemological Institute of America (2024). Diamond 4Cs: The Methodology of Grading and Valuation.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1BB852D-F1B2-E344-95AC-8DC85A67BF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40"/>
    </mc:Choice>
    <mc:Fallback>
      <p:transition spd="slow" advTm="10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{32D0BE02-932B-8141-8B2E-60E23EA5922C}tf10001119</Template>
  <TotalTime>180</TotalTime>
  <Words>665</Words>
  <Application>Microsoft Macintosh PowerPoint</Application>
  <PresentationFormat>On-screen Show (4:3)</PresentationFormat>
  <Paragraphs>76</Paragraphs>
  <Slides>16</Slides>
  <Notes>0</Notes>
  <HiddenSlides>0</HiddenSlides>
  <MMClips>16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Gill Sans MT</vt:lpstr>
      <vt:lpstr>Gallery</vt:lpstr>
      <vt:lpstr>Diamond Price Prediction</vt:lpstr>
      <vt:lpstr>Introduction</vt:lpstr>
      <vt:lpstr>Business Problem</vt:lpstr>
      <vt:lpstr>Background and History</vt:lpstr>
      <vt:lpstr>Data Explanation</vt:lpstr>
      <vt:lpstr>Methods</vt:lpstr>
      <vt:lpstr>Analysis</vt:lpstr>
      <vt:lpstr>Analysis</vt:lpstr>
      <vt:lpstr>Conclusion</vt:lpstr>
      <vt:lpstr>Assumptions and Limitations</vt:lpstr>
      <vt:lpstr>Challenges</vt:lpstr>
      <vt:lpstr>Future Uses &amp; Recommendations</vt:lpstr>
      <vt:lpstr>Implementation Plan</vt:lpstr>
      <vt:lpstr>Ethical Assessment</vt:lpstr>
      <vt:lpstr>Audience Questions</vt:lpstr>
      <vt:lpstr>References</vt:lpstr>
    </vt:vector>
  </TitlesOfParts>
  <Manager/>
  <Company/>
  <LinksUpToDate>false</LinksUpToDate>
  <SharedDoc>false</SharedDoc>
  <HyperlinkBase/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Price Prediction</dc:title>
  <dc:subject/>
  <dc:creator/>
  <cp:keywords/>
  <dc:description>generated using python-pptx</dc:description>
  <cp:lastModifiedBy>Microsoft Office User</cp:lastModifiedBy>
  <cp:revision>9</cp:revision>
  <dcterms:created xsi:type="dcterms:W3CDTF">2013-01-27T09:14:16Z</dcterms:created>
  <dcterms:modified xsi:type="dcterms:W3CDTF">2025-11-01T22:50:58Z</dcterms:modified>
  <cp:category/>
</cp:coreProperties>
</file>